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544000" cy="77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12000" y="0"/>
            <a:ext cx="10368000" cy="7776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544000" cy="7776000"/>
          </a:xfrm>
          <a:prstGeom prst="rect">
            <a:avLst/>
          </a:prstGeom>
          <a:solidFill>
            <a:srgbClr val="143408">
              <a:alpha val="4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2000" y="252000"/>
            <a:ext cx="5040000" cy="7272000"/>
          </a:xfrm>
          <a:prstGeom prst="rect">
            <a:avLst/>
          </a:prstGeom>
          <a:noFill/>
          <a:ln w="9525">
            <a:solidFill>
              <a:srgbClr val="EBCB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muong-c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00" y="396000"/>
            <a:ext cx="504000" cy="50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2000" y="432000"/>
            <a:ext cx="252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0" b="0" i="0">
                <a:solidFill>
                  <a:srgbClr val="FBF7EE"/>
                </a:solidFill>
                <a:latin typeface="Be Vietnam Pro"/>
              </a:rPr>
              <a:t>Du lịch cộng đồng</a:t>
            </a:r>
          </a:p>
          <a:p>
            <a:pPr algn="l"/>
            <a:r>
              <a:rPr sz="1100" b="1" i="0">
                <a:solidFill>
                  <a:srgbClr val="FBF7EE"/>
                </a:solidFill>
                <a:latin typeface="Bodoni Moda"/>
              </a:rPr>
              <a:t>MƯỜNG CỐC</a:t>
            </a:r>
          </a:p>
          <a:p>
            <a:pPr algn="l"/>
            <a:r>
              <a:rPr sz="750" b="0" i="1">
                <a:solidFill>
                  <a:srgbClr val="EBCB86"/>
                </a:solidFill>
                <a:latin typeface="Cormorant Garamond"/>
              </a:rPr>
              <a:t>– Chạm vào bình yên 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76000" y="468000"/>
            <a:ext cx="1080000" cy="234000"/>
          </a:xfrm>
          <a:prstGeom prst="roundRect">
            <a:avLst/>
          </a:prstGeom>
          <a:solidFill>
            <a:srgbClr val="EBC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246A0A"/>
                </a:solidFill>
                <a:latin typeface="Be Vietnam Pro"/>
              </a:rPr>
              <a:t>CUNG ĐẠP 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3312000"/>
            <a:ext cx="4680000" cy="2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EBCB86"/>
                </a:solidFill>
                <a:latin typeface="Be Vietnam Pro"/>
              </a:rPr>
              <a:t>— 1 ngày (07:30 – 16:30) · KHỞI HÀNH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3600000"/>
            <a:ext cx="4968000" cy="136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Playfair Display"/>
              </a:rPr>
              <a:t>Vòng Xe</a:t>
            </a:r>
          </a:p>
          <a:p>
            <a:pPr algn="ctr"/>
            <a:r>
              <a:rPr sz="4000" b="1" i="1">
                <a:solidFill>
                  <a:srgbClr val="EBCB86"/>
                </a:solidFill>
                <a:latin typeface="Playfair Display"/>
              </a:rPr>
              <a:t>Xanh Mường Cốc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5112000"/>
            <a:ext cx="4824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FBF7EE"/>
                </a:solidFill>
                <a:latin typeface="Cormorant Garamond"/>
              </a:rPr>
              <a:t>Bản Mường — Bóng Núi — Hơi Thở Đất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5436000"/>
            <a:ext cx="4536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FBF7EE"/>
                </a:solidFill>
                <a:latin typeface="Be Vietnam Pro"/>
              </a:rPr>
              <a:t>Vòng Xe Xanh Mường Cốc đưa bạn vào một ngày đạp xe vòng quanh bản Mường — đi qua bóng chùa cổ, giếng nước trong, vườn sim, vào sâu trong thung lũng không một mảnh bê tông.…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336000"/>
            <a:ext cx="1152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EBCB86"/>
                </a:solidFill>
                <a:latin typeface="Playfair Display"/>
              </a:rPr>
              <a:t>~10 – 11 km</a:t>
            </a:r>
          </a:p>
          <a:p>
            <a:pPr algn="ctr"/>
            <a:r>
              <a:rPr sz="600" b="0" i="0">
                <a:solidFill>
                  <a:srgbClr val="FBF7EE"/>
                </a:solidFill>
                <a:latin typeface="Be Vietnam Pro"/>
              </a:rPr>
              <a:t>KM · DỄ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4000" y="6336000"/>
            <a:ext cx="1152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EBCB86"/>
                </a:solidFill>
                <a:latin typeface="Playfair Display"/>
              </a:rPr>
              <a:t>1 ngày (07:30 – 16:30)</a:t>
            </a:r>
          </a:p>
          <a:p>
            <a:pPr algn="ctr"/>
            <a:r>
              <a:rPr sz="600" b="0" i="0">
                <a:solidFill>
                  <a:srgbClr val="FBF7EE"/>
                </a:solidFill>
                <a:latin typeface="Be Vietnam Pro"/>
              </a:rPr>
              <a:t>THỜI GIAN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6000" y="6336000"/>
            <a:ext cx="1152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EBCB86"/>
                </a:solidFill>
                <a:latin typeface="Playfair Display"/>
              </a:rPr>
              <a:t>10</a:t>
            </a:r>
          </a:p>
          <a:p>
            <a:pPr algn="ctr"/>
            <a:r>
              <a:rPr sz="600" b="0" i="0">
                <a:solidFill>
                  <a:srgbClr val="FBF7EE"/>
                </a:solidFill>
                <a:latin typeface="Be Vietnam Pro"/>
              </a:rPr>
              <a:t>ĐIỂM DỪNG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8000" y="6336000"/>
            <a:ext cx="1152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EBCB86"/>
                </a:solidFill>
                <a:latin typeface="Playfair Display"/>
              </a:rPr>
              <a:t>2 – 12 khách</a:t>
            </a:r>
          </a:p>
          <a:p>
            <a:pPr algn="ctr"/>
            <a:r>
              <a:rPr sz="600" b="0" i="0">
                <a:solidFill>
                  <a:srgbClr val="FBF7EE"/>
                </a:solidFill>
                <a:latin typeface="Be Vietnam Pro"/>
              </a:rPr>
              <a:t>KHÁCH / ĐOÀN</a:t>
            </a:r>
          </a:p>
        </p:txBody>
      </p:sp>
      <p:pic>
        <p:nvPicPr>
          <p:cNvPr id="16" name="Picture 15" descr="qr-cung-vong-xe-xan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" y="6948000"/>
            <a:ext cx="648000" cy="648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56000" y="6984000"/>
            <a:ext cx="1656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300" b="1" i="0">
                <a:solidFill>
                  <a:srgbClr val="FFFFFF"/>
                </a:solidFill>
                <a:latin typeface="Playfair Display"/>
              </a:rPr>
              <a:t>650K</a:t>
            </a:r>
          </a:p>
          <a:p>
            <a:pPr algn="r"/>
            <a:r>
              <a:rPr sz="600" b="0" i="0">
                <a:solidFill>
                  <a:srgbClr val="EBCB86"/>
                </a:solidFill>
                <a:latin typeface="Be Vietnam Pro"/>
              </a:rPr>
              <a:t>VNĐ / KHÁCH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